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zQ95N4XjrpqBUXvBl0TVrpTq8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a7f5d973a_2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g3aa7f5d973a_2_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3aa7f5d973a_2_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" name="Google Shape;48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dc8b8926f_0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g3adc8b8926f_0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adc8b8926f_0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5" name="Google Shape;58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dc8b8926f_1_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adc8b8926f_1_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adc8b8926f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6" name="Google Shape;606;g3adc8b8926f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3adc8b8926f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adc8b8926f_0_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g3adc8b8926f_0_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adc8b8926f_0_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aa7f5d973a_5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1" name="Google Shape;641;g3aa7f5d973a_5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aa7f5d973a_5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adc8b8926f_0_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g3adc8b8926f_0_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adc8b8926f_0_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0" name="Google Shape;730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9a2a5718ca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9" name="Google Shape;769;g39a2a5718ca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9a2a5718ca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5.png"/><Relationship Id="rId4" Type="http://schemas.openxmlformats.org/officeDocument/2006/relationships/image" Target="../media/image22.png"/><Relationship Id="rId11" Type="http://schemas.openxmlformats.org/officeDocument/2006/relationships/image" Target="../media/image8.png"/><Relationship Id="rId10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22" Type="http://schemas.openxmlformats.org/officeDocument/2006/relationships/image" Target="../media/image19.png"/><Relationship Id="rId21" Type="http://schemas.openxmlformats.org/officeDocument/2006/relationships/image" Target="../media/image38.png"/><Relationship Id="rId24" Type="http://schemas.openxmlformats.org/officeDocument/2006/relationships/image" Target="../media/image27.png"/><Relationship Id="rId23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3.png"/><Relationship Id="rId26" Type="http://schemas.openxmlformats.org/officeDocument/2006/relationships/image" Target="../media/image26.png"/><Relationship Id="rId25" Type="http://schemas.openxmlformats.org/officeDocument/2006/relationships/image" Target="../media/image28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10.png"/><Relationship Id="rId11" Type="http://schemas.openxmlformats.org/officeDocument/2006/relationships/image" Target="../media/image11.png"/><Relationship Id="rId10" Type="http://schemas.openxmlformats.org/officeDocument/2006/relationships/image" Target="../media/image7.png"/><Relationship Id="rId13" Type="http://schemas.openxmlformats.org/officeDocument/2006/relationships/image" Target="../media/image9.png"/><Relationship Id="rId12" Type="http://schemas.openxmlformats.org/officeDocument/2006/relationships/image" Target="../media/image32.png"/><Relationship Id="rId15" Type="http://schemas.openxmlformats.org/officeDocument/2006/relationships/image" Target="../media/image23.png"/><Relationship Id="rId14" Type="http://schemas.openxmlformats.org/officeDocument/2006/relationships/image" Target="../media/image34.png"/><Relationship Id="rId17" Type="http://schemas.openxmlformats.org/officeDocument/2006/relationships/image" Target="../media/image29.png"/><Relationship Id="rId16" Type="http://schemas.openxmlformats.org/officeDocument/2006/relationships/image" Target="../media/image17.png"/><Relationship Id="rId19" Type="http://schemas.openxmlformats.org/officeDocument/2006/relationships/image" Target="../media/image33.png"/><Relationship Id="rId1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45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Relationship Id="rId7" Type="http://schemas.openxmlformats.org/officeDocument/2006/relationships/image" Target="../media/image25.png"/><Relationship Id="rId8" Type="http://schemas.openxmlformats.org/officeDocument/2006/relationships/image" Target="../media/image46.png"/><Relationship Id="rId11" Type="http://schemas.openxmlformats.org/officeDocument/2006/relationships/image" Target="../media/image41.png"/><Relationship Id="rId10" Type="http://schemas.openxmlformats.org/officeDocument/2006/relationships/image" Target="../media/image37.png"/><Relationship Id="rId13" Type="http://schemas.openxmlformats.org/officeDocument/2006/relationships/image" Target="../media/image43.png"/><Relationship Id="rId12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22" Type="http://schemas.openxmlformats.org/officeDocument/2006/relationships/image" Target="../media/image65.png"/><Relationship Id="rId21" Type="http://schemas.openxmlformats.org/officeDocument/2006/relationships/image" Target="../media/image59.png"/><Relationship Id="rId24" Type="http://schemas.openxmlformats.org/officeDocument/2006/relationships/image" Target="../media/image56.png"/><Relationship Id="rId23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54.png"/><Relationship Id="rId26" Type="http://schemas.openxmlformats.org/officeDocument/2006/relationships/image" Target="../media/image68.png"/><Relationship Id="rId25" Type="http://schemas.openxmlformats.org/officeDocument/2006/relationships/image" Target="../media/image76.png"/><Relationship Id="rId28" Type="http://schemas.openxmlformats.org/officeDocument/2006/relationships/image" Target="../media/image74.png"/><Relationship Id="rId27" Type="http://schemas.openxmlformats.org/officeDocument/2006/relationships/image" Target="../media/image64.png"/><Relationship Id="rId5" Type="http://schemas.openxmlformats.org/officeDocument/2006/relationships/image" Target="../media/image42.png"/><Relationship Id="rId6" Type="http://schemas.openxmlformats.org/officeDocument/2006/relationships/image" Target="../media/image48.png"/><Relationship Id="rId29" Type="http://schemas.openxmlformats.org/officeDocument/2006/relationships/image" Target="../media/image67.png"/><Relationship Id="rId7" Type="http://schemas.openxmlformats.org/officeDocument/2006/relationships/image" Target="../media/image57.png"/><Relationship Id="rId8" Type="http://schemas.openxmlformats.org/officeDocument/2006/relationships/image" Target="../media/image53.png"/><Relationship Id="rId31" Type="http://schemas.openxmlformats.org/officeDocument/2006/relationships/image" Target="../media/image62.png"/><Relationship Id="rId30" Type="http://schemas.openxmlformats.org/officeDocument/2006/relationships/image" Target="../media/image71.png"/><Relationship Id="rId11" Type="http://schemas.openxmlformats.org/officeDocument/2006/relationships/image" Target="../media/image50.png"/><Relationship Id="rId10" Type="http://schemas.openxmlformats.org/officeDocument/2006/relationships/image" Target="../media/image47.png"/><Relationship Id="rId13" Type="http://schemas.openxmlformats.org/officeDocument/2006/relationships/image" Target="../media/image51.png"/><Relationship Id="rId12" Type="http://schemas.openxmlformats.org/officeDocument/2006/relationships/image" Target="../media/image66.png"/><Relationship Id="rId15" Type="http://schemas.openxmlformats.org/officeDocument/2006/relationships/image" Target="../media/image55.png"/><Relationship Id="rId14" Type="http://schemas.openxmlformats.org/officeDocument/2006/relationships/image" Target="../media/image49.png"/><Relationship Id="rId17" Type="http://schemas.openxmlformats.org/officeDocument/2006/relationships/image" Target="../media/image58.png"/><Relationship Id="rId16" Type="http://schemas.openxmlformats.org/officeDocument/2006/relationships/image" Target="../media/image69.png"/><Relationship Id="rId19" Type="http://schemas.openxmlformats.org/officeDocument/2006/relationships/image" Target="../media/image61.png"/><Relationship Id="rId18" Type="http://schemas.openxmlformats.org/officeDocument/2006/relationships/image" Target="../media/image60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88.png"/><Relationship Id="rId21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78.png"/><Relationship Id="rId5" Type="http://schemas.openxmlformats.org/officeDocument/2006/relationships/image" Target="../media/image70.png"/><Relationship Id="rId6" Type="http://schemas.openxmlformats.org/officeDocument/2006/relationships/image" Target="../media/image73.png"/><Relationship Id="rId7" Type="http://schemas.openxmlformats.org/officeDocument/2006/relationships/image" Target="../media/image75.png"/><Relationship Id="rId8" Type="http://schemas.openxmlformats.org/officeDocument/2006/relationships/image" Target="../media/image77.png"/><Relationship Id="rId11" Type="http://schemas.openxmlformats.org/officeDocument/2006/relationships/image" Target="../media/image80.png"/><Relationship Id="rId10" Type="http://schemas.openxmlformats.org/officeDocument/2006/relationships/image" Target="../media/image81.png"/><Relationship Id="rId13" Type="http://schemas.openxmlformats.org/officeDocument/2006/relationships/image" Target="../media/image82.png"/><Relationship Id="rId12" Type="http://schemas.openxmlformats.org/officeDocument/2006/relationships/image" Target="../media/image72.png"/><Relationship Id="rId15" Type="http://schemas.openxmlformats.org/officeDocument/2006/relationships/image" Target="../media/image85.png"/><Relationship Id="rId14" Type="http://schemas.openxmlformats.org/officeDocument/2006/relationships/image" Target="../media/image79.png"/><Relationship Id="rId17" Type="http://schemas.openxmlformats.org/officeDocument/2006/relationships/image" Target="../media/image93.png"/><Relationship Id="rId16" Type="http://schemas.openxmlformats.org/officeDocument/2006/relationships/image" Target="../media/image86.png"/><Relationship Id="rId19" Type="http://schemas.openxmlformats.org/officeDocument/2006/relationships/image" Target="../media/image92.png"/><Relationship Id="rId18" Type="http://schemas.openxmlformats.org/officeDocument/2006/relationships/image" Target="../media/image83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2.png"/><Relationship Id="rId22" Type="http://schemas.openxmlformats.org/officeDocument/2006/relationships/image" Target="../media/image105.png"/><Relationship Id="rId21" Type="http://schemas.openxmlformats.org/officeDocument/2006/relationships/image" Target="../media/image104.png"/><Relationship Id="rId24" Type="http://schemas.openxmlformats.org/officeDocument/2006/relationships/image" Target="../media/image106.png"/><Relationship Id="rId23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90.png"/><Relationship Id="rId26" Type="http://schemas.openxmlformats.org/officeDocument/2006/relationships/image" Target="../media/image107.png"/><Relationship Id="rId25" Type="http://schemas.openxmlformats.org/officeDocument/2006/relationships/image" Target="../media/image109.png"/><Relationship Id="rId28" Type="http://schemas.openxmlformats.org/officeDocument/2006/relationships/image" Target="../media/image112.png"/><Relationship Id="rId27" Type="http://schemas.openxmlformats.org/officeDocument/2006/relationships/image" Target="../media/image110.png"/><Relationship Id="rId5" Type="http://schemas.openxmlformats.org/officeDocument/2006/relationships/image" Target="../media/image87.png"/><Relationship Id="rId6" Type="http://schemas.openxmlformats.org/officeDocument/2006/relationships/image" Target="../media/image91.png"/><Relationship Id="rId7" Type="http://schemas.openxmlformats.org/officeDocument/2006/relationships/image" Target="../media/image95.png"/><Relationship Id="rId8" Type="http://schemas.openxmlformats.org/officeDocument/2006/relationships/image" Target="../media/image89.png"/><Relationship Id="rId11" Type="http://schemas.openxmlformats.org/officeDocument/2006/relationships/image" Target="../media/image64.png"/><Relationship Id="rId10" Type="http://schemas.openxmlformats.org/officeDocument/2006/relationships/image" Target="../media/image53.png"/><Relationship Id="rId13" Type="http://schemas.openxmlformats.org/officeDocument/2006/relationships/image" Target="../media/image96.png"/><Relationship Id="rId12" Type="http://schemas.openxmlformats.org/officeDocument/2006/relationships/image" Target="../media/image94.png"/><Relationship Id="rId15" Type="http://schemas.openxmlformats.org/officeDocument/2006/relationships/image" Target="../media/image103.png"/><Relationship Id="rId14" Type="http://schemas.openxmlformats.org/officeDocument/2006/relationships/image" Target="../media/image97.png"/><Relationship Id="rId17" Type="http://schemas.openxmlformats.org/officeDocument/2006/relationships/image" Target="../media/image99.png"/><Relationship Id="rId16" Type="http://schemas.openxmlformats.org/officeDocument/2006/relationships/image" Target="../media/image101.png"/><Relationship Id="rId19" Type="http://schemas.openxmlformats.org/officeDocument/2006/relationships/image" Target="../media/image100.png"/><Relationship Id="rId18" Type="http://schemas.openxmlformats.org/officeDocument/2006/relationships/image" Target="../media/image9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116.png"/><Relationship Id="rId5" Type="http://schemas.openxmlformats.org/officeDocument/2006/relationships/image" Target="../media/image111.png"/><Relationship Id="rId6" Type="http://schemas.openxmlformats.org/officeDocument/2006/relationships/image" Target="../media/image113.png"/><Relationship Id="rId7" Type="http://schemas.openxmlformats.org/officeDocument/2006/relationships/image" Target="../media/image25.png"/><Relationship Id="rId8" Type="http://schemas.openxmlformats.org/officeDocument/2006/relationships/image" Target="../media/image121.png"/><Relationship Id="rId11" Type="http://schemas.openxmlformats.org/officeDocument/2006/relationships/image" Target="../media/image118.png"/><Relationship Id="rId10" Type="http://schemas.openxmlformats.org/officeDocument/2006/relationships/image" Target="../media/image117.png"/><Relationship Id="rId13" Type="http://schemas.openxmlformats.org/officeDocument/2006/relationships/image" Target="../media/image109.png"/><Relationship Id="rId12" Type="http://schemas.openxmlformats.org/officeDocument/2006/relationships/image" Target="../media/image106.png"/><Relationship Id="rId15" Type="http://schemas.openxmlformats.org/officeDocument/2006/relationships/image" Target="../media/image123.png"/><Relationship Id="rId14" Type="http://schemas.openxmlformats.org/officeDocument/2006/relationships/image" Target="../media/image119.png"/><Relationship Id="rId17" Type="http://schemas.openxmlformats.org/officeDocument/2006/relationships/image" Target="../media/image122.png"/><Relationship Id="rId16" Type="http://schemas.openxmlformats.org/officeDocument/2006/relationships/image" Target="../media/image120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3.png"/><Relationship Id="rId22" Type="http://schemas.openxmlformats.org/officeDocument/2006/relationships/image" Target="../media/image141.png"/><Relationship Id="rId21" Type="http://schemas.openxmlformats.org/officeDocument/2006/relationships/image" Target="../media/image140.png"/><Relationship Id="rId24" Type="http://schemas.openxmlformats.org/officeDocument/2006/relationships/image" Target="../media/image149.png"/><Relationship Id="rId23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136.png"/><Relationship Id="rId26" Type="http://schemas.openxmlformats.org/officeDocument/2006/relationships/image" Target="../media/image148.png"/><Relationship Id="rId25" Type="http://schemas.openxmlformats.org/officeDocument/2006/relationships/image" Target="../media/image144.png"/><Relationship Id="rId28" Type="http://schemas.openxmlformats.org/officeDocument/2006/relationships/image" Target="../media/image145.png"/><Relationship Id="rId27" Type="http://schemas.openxmlformats.org/officeDocument/2006/relationships/image" Target="../media/image150.png"/><Relationship Id="rId5" Type="http://schemas.openxmlformats.org/officeDocument/2006/relationships/image" Target="../media/image125.png"/><Relationship Id="rId6" Type="http://schemas.openxmlformats.org/officeDocument/2006/relationships/image" Target="../media/image124.png"/><Relationship Id="rId29" Type="http://schemas.openxmlformats.org/officeDocument/2006/relationships/image" Target="../media/image156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11" Type="http://schemas.openxmlformats.org/officeDocument/2006/relationships/image" Target="../media/image131.png"/><Relationship Id="rId10" Type="http://schemas.openxmlformats.org/officeDocument/2006/relationships/image" Target="../media/image128.png"/><Relationship Id="rId13" Type="http://schemas.openxmlformats.org/officeDocument/2006/relationships/image" Target="../media/image129.png"/><Relationship Id="rId12" Type="http://schemas.openxmlformats.org/officeDocument/2006/relationships/image" Target="../media/image130.png"/><Relationship Id="rId15" Type="http://schemas.openxmlformats.org/officeDocument/2006/relationships/image" Target="../media/image133.png"/><Relationship Id="rId14" Type="http://schemas.openxmlformats.org/officeDocument/2006/relationships/image" Target="../media/image138.png"/><Relationship Id="rId17" Type="http://schemas.openxmlformats.org/officeDocument/2006/relationships/image" Target="../media/image134.png"/><Relationship Id="rId16" Type="http://schemas.openxmlformats.org/officeDocument/2006/relationships/image" Target="../media/image132.png"/><Relationship Id="rId19" Type="http://schemas.openxmlformats.org/officeDocument/2006/relationships/image" Target="../media/image135.png"/><Relationship Id="rId18" Type="http://schemas.openxmlformats.org/officeDocument/2006/relationships/image" Target="../media/image1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155.png"/><Relationship Id="rId5" Type="http://schemas.openxmlformats.org/officeDocument/2006/relationships/image" Target="../media/image157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47.png"/><Relationship Id="rId11" Type="http://schemas.openxmlformats.org/officeDocument/2006/relationships/image" Target="../media/image153.png"/><Relationship Id="rId10" Type="http://schemas.openxmlformats.org/officeDocument/2006/relationships/image" Target="../media/image158.png"/><Relationship Id="rId13" Type="http://schemas.openxmlformats.org/officeDocument/2006/relationships/image" Target="../media/image162.png"/><Relationship Id="rId12" Type="http://schemas.openxmlformats.org/officeDocument/2006/relationships/image" Target="../media/image154.png"/><Relationship Id="rId15" Type="http://schemas.openxmlformats.org/officeDocument/2006/relationships/image" Target="../media/image161.png"/><Relationship Id="rId14" Type="http://schemas.openxmlformats.org/officeDocument/2006/relationships/image" Target="../media/image159.png"/><Relationship Id="rId17" Type="http://schemas.openxmlformats.org/officeDocument/2006/relationships/image" Target="../media/image163.png"/><Relationship Id="rId16" Type="http://schemas.openxmlformats.org/officeDocument/2006/relationships/image" Target="../media/image1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165.png"/><Relationship Id="rId5" Type="http://schemas.openxmlformats.org/officeDocument/2006/relationships/image" Target="../media/image164.png"/><Relationship Id="rId6" Type="http://schemas.openxmlformats.org/officeDocument/2006/relationships/image" Target="../media/image166.png"/><Relationship Id="rId7" Type="http://schemas.openxmlformats.org/officeDocument/2006/relationships/image" Target="../media/image126.png"/><Relationship Id="rId8" Type="http://schemas.openxmlformats.org/officeDocument/2006/relationships/image" Target="../media/image167.png"/><Relationship Id="rId11" Type="http://schemas.openxmlformats.org/officeDocument/2006/relationships/image" Target="../media/image132.png"/><Relationship Id="rId10" Type="http://schemas.openxmlformats.org/officeDocument/2006/relationships/image" Target="../media/image168.png"/><Relationship Id="rId12" Type="http://schemas.openxmlformats.org/officeDocument/2006/relationships/image" Target="../media/image16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173.png"/><Relationship Id="rId5" Type="http://schemas.openxmlformats.org/officeDocument/2006/relationships/image" Target="../media/image170.png"/><Relationship Id="rId6" Type="http://schemas.openxmlformats.org/officeDocument/2006/relationships/image" Target="../media/image172.png"/><Relationship Id="rId7" Type="http://schemas.openxmlformats.org/officeDocument/2006/relationships/image" Target="../media/image171.png"/><Relationship Id="rId8" Type="http://schemas.openxmlformats.org/officeDocument/2006/relationships/image" Target="../media/image119.png"/><Relationship Id="rId11" Type="http://schemas.openxmlformats.org/officeDocument/2006/relationships/image" Target="../media/image183.png"/><Relationship Id="rId10" Type="http://schemas.openxmlformats.org/officeDocument/2006/relationships/image" Target="../media/image54.png"/><Relationship Id="rId13" Type="http://schemas.openxmlformats.org/officeDocument/2006/relationships/image" Target="../media/image178.png"/><Relationship Id="rId12" Type="http://schemas.openxmlformats.org/officeDocument/2006/relationships/image" Target="../media/image17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5" Type="http://schemas.openxmlformats.org/officeDocument/2006/relationships/image" Target="../media/image17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5" Type="http://schemas.openxmlformats.org/officeDocument/2006/relationships/hyperlink" Target="http://drive.google.com/file/d/1mUBuXJOg1FNHGxvl9K0f3sfoEH05PMYt/view" TargetMode="External"/><Relationship Id="rId6" Type="http://schemas.openxmlformats.org/officeDocument/2006/relationships/image" Target="../media/image17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2.png"/><Relationship Id="rId4" Type="http://schemas.openxmlformats.org/officeDocument/2006/relationships/hyperlink" Target="http://drive.google.com/file/d/1dJImUVeOzIFvBMv1cc3JphMEXiBjj0DT/view" TargetMode="External"/><Relationship Id="rId5" Type="http://schemas.openxmlformats.org/officeDocument/2006/relationships/image" Target="../media/image180.jpg"/><Relationship Id="rId6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5" Type="http://schemas.openxmlformats.org/officeDocument/2006/relationships/hyperlink" Target="http://drive.google.com/file/d/1PLefnNUkDdoQSoK5AF8Fc47NoojfPr0o/view" TargetMode="External"/><Relationship Id="rId6" Type="http://schemas.openxmlformats.org/officeDocument/2006/relationships/image" Target="../media/image17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5" Type="http://schemas.openxmlformats.org/officeDocument/2006/relationships/hyperlink" Target="http://drive.google.com/file/d/1w5TClfcrJ7Uwn_y193IusiLEvo7f7I13/view" TargetMode="External"/><Relationship Id="rId6" Type="http://schemas.openxmlformats.org/officeDocument/2006/relationships/image" Target="../media/image18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5" Type="http://schemas.openxmlformats.org/officeDocument/2006/relationships/image" Target="../media/image18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5" Type="http://schemas.openxmlformats.org/officeDocument/2006/relationships/image" Target="../media/image179.png"/><Relationship Id="rId6" Type="http://schemas.openxmlformats.org/officeDocument/2006/relationships/hyperlink" Target="https://github.com/AmlBanna/Driver-Safety-Monitoring" TargetMode="External"/><Relationship Id="rId7" Type="http://schemas.openxmlformats.org/officeDocument/2006/relationships/hyperlink" Target="https://github.com/AmlBanna/driver-safety-monitor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84.png"/><Relationship Id="rId5" Type="http://schemas.openxmlformats.org/officeDocument/2006/relationships/image" Target="../media/image191.png"/><Relationship Id="rId6" Type="http://schemas.openxmlformats.org/officeDocument/2006/relationships/image" Target="../media/image193.png"/><Relationship Id="rId7" Type="http://schemas.openxmlformats.org/officeDocument/2006/relationships/image" Target="../media/image182.png"/><Relationship Id="rId8" Type="http://schemas.openxmlformats.org/officeDocument/2006/relationships/image" Target="../media/image189.png"/><Relationship Id="rId11" Type="http://schemas.openxmlformats.org/officeDocument/2006/relationships/image" Target="../media/image187.png"/><Relationship Id="rId10" Type="http://schemas.openxmlformats.org/officeDocument/2006/relationships/image" Target="../media/image188.png"/><Relationship Id="rId13" Type="http://schemas.openxmlformats.org/officeDocument/2006/relationships/image" Target="../media/image194.png"/><Relationship Id="rId12" Type="http://schemas.openxmlformats.org/officeDocument/2006/relationships/image" Target="../media/image204.png"/><Relationship Id="rId15" Type="http://schemas.openxmlformats.org/officeDocument/2006/relationships/image" Target="../media/image184.png"/><Relationship Id="rId14" Type="http://schemas.openxmlformats.org/officeDocument/2006/relationships/image" Target="../media/image186.png"/><Relationship Id="rId17" Type="http://schemas.openxmlformats.org/officeDocument/2006/relationships/image" Target="../media/image196.png"/><Relationship Id="rId16" Type="http://schemas.openxmlformats.org/officeDocument/2006/relationships/image" Target="../media/image19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2.png"/><Relationship Id="rId4" Type="http://schemas.openxmlformats.org/officeDocument/2006/relationships/image" Target="../media/image24.png"/><Relationship Id="rId9" Type="http://schemas.openxmlformats.org/officeDocument/2006/relationships/image" Target="../media/image195.png"/><Relationship Id="rId5" Type="http://schemas.openxmlformats.org/officeDocument/2006/relationships/image" Target="../media/image209.png"/><Relationship Id="rId6" Type="http://schemas.openxmlformats.org/officeDocument/2006/relationships/image" Target="../media/image205.png"/><Relationship Id="rId7" Type="http://schemas.openxmlformats.org/officeDocument/2006/relationships/image" Target="../media/image202.png"/><Relationship Id="rId8" Type="http://schemas.openxmlformats.org/officeDocument/2006/relationships/image" Target="../media/image198.png"/><Relationship Id="rId11" Type="http://schemas.openxmlformats.org/officeDocument/2006/relationships/image" Target="../media/image200.png"/><Relationship Id="rId10" Type="http://schemas.openxmlformats.org/officeDocument/2006/relationships/image" Target="../media/image199.png"/><Relationship Id="rId13" Type="http://schemas.openxmlformats.org/officeDocument/2006/relationships/image" Target="../media/image190.png"/><Relationship Id="rId12" Type="http://schemas.openxmlformats.org/officeDocument/2006/relationships/image" Target="../media/image203.png"/><Relationship Id="rId15" Type="http://schemas.openxmlformats.org/officeDocument/2006/relationships/image" Target="../media/image197.png"/><Relationship Id="rId14" Type="http://schemas.openxmlformats.org/officeDocument/2006/relationships/image" Target="../media/image208.png"/><Relationship Id="rId17" Type="http://schemas.openxmlformats.org/officeDocument/2006/relationships/image" Target="../media/image201.png"/><Relationship Id="rId16" Type="http://schemas.openxmlformats.org/officeDocument/2006/relationships/image" Target="../media/image207.png"/><Relationship Id="rId19" Type="http://schemas.openxmlformats.org/officeDocument/2006/relationships/image" Target="../media/image210.png"/><Relationship Id="rId18" Type="http://schemas.openxmlformats.org/officeDocument/2006/relationships/image" Target="../media/image20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2.png"/><Relationship Id="rId4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g3aa7f5d973a_2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" name="Google Shape;15;g3aa7f5d973a_2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510338"/>
            <a:ext cx="1219199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" name="Google Shape;16;g3aa7f5d973a_2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2247900"/>
            <a:ext cx="1219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g3aa7f5d973a_2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4229100"/>
            <a:ext cx="1811982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g3aa7f5d973a_2_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38150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g3aa7f5d973a_2_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73982" y="4229100"/>
            <a:ext cx="205799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g3aa7f5d973a_2_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26382" y="4381500"/>
            <a:ext cx="2857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g3aa7f5d973a_2_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39334" y="2045001"/>
            <a:ext cx="3441134" cy="231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g3aa7f5d973a_2_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6286500"/>
            <a:ext cx="121920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aa7f5d973a_2_2"/>
          <p:cNvSpPr/>
          <p:nvPr/>
        </p:nvSpPr>
        <p:spPr>
          <a:xfrm>
            <a:off x="609600" y="1524000"/>
            <a:ext cx="829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SafeDrive AI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aa7f5d973a_2_2"/>
          <p:cNvSpPr/>
          <p:nvPr/>
        </p:nvSpPr>
        <p:spPr>
          <a:xfrm>
            <a:off x="609600" y="2514600"/>
            <a:ext cx="6908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Intelligent Driver Safety &amp; Behavior Analysis System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aa7f5d973a_2_2"/>
          <p:cNvSpPr/>
          <p:nvPr/>
        </p:nvSpPr>
        <p:spPr>
          <a:xfrm>
            <a:off x="609600" y="3429000"/>
            <a:ext cx="829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1" i="1" lang="en-US" sz="1500" u="none" cap="none" strike="noStrike">
                <a:solidFill>
                  <a:srgbClr val="475569"/>
                </a:solidFill>
              </a:rPr>
              <a:t>Dual-Model Computer Vision Platform for Real-Time Detection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aa7f5d973a_2_2"/>
          <p:cNvSpPr/>
          <p:nvPr/>
        </p:nvSpPr>
        <p:spPr>
          <a:xfrm>
            <a:off x="1200150" y="4438650"/>
            <a:ext cx="12828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Eye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aa7f5d973a_2_2"/>
          <p:cNvSpPr/>
          <p:nvPr/>
        </p:nvSpPr>
        <p:spPr>
          <a:xfrm>
            <a:off x="3126432" y="4438650"/>
            <a:ext cx="16237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Behavior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aa7f5d973a_2_2"/>
          <p:cNvSpPr/>
          <p:nvPr/>
        </p:nvSpPr>
        <p:spPr>
          <a:xfrm>
            <a:off x="609600" y="6467475"/>
            <a:ext cx="47327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74151"/>
                </a:solidFill>
              </a:rPr>
              <a:t>DEPI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aa7f5d973a_2_2"/>
          <p:cNvSpPr/>
          <p:nvPr/>
        </p:nvSpPr>
        <p:spPr>
          <a:xfrm>
            <a:off x="11194554" y="6477000"/>
            <a:ext cx="46541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B5563"/>
                </a:solidFill>
              </a:rPr>
              <a:t>2025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104900"/>
            <a:ext cx="3657600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1333500"/>
            <a:ext cx="32004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4050" y="13335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95500" y="14668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9600" y="3824288"/>
            <a:ext cx="3200400" cy="906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3900" y="396716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7200" y="1104900"/>
            <a:ext cx="3657600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5800" y="1333500"/>
            <a:ext cx="32004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0" y="13335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81700" y="14668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5800" y="2438400"/>
            <a:ext cx="304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72000" y="25431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5800" y="3162300"/>
            <a:ext cx="304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" name="Google Shape;50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72000" y="32670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" name="Google Shape;51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95800" y="3886200"/>
            <a:ext cx="304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572000" y="39909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495800" y="4838700"/>
            <a:ext cx="32004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610100" y="49815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3400" y="1117600"/>
            <a:ext cx="3657600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0" y="1333500"/>
            <a:ext cx="32004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696450" y="13335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910763" y="1466850"/>
            <a:ext cx="1428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382000" y="3500438"/>
            <a:ext cx="32004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496300" y="395763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496300" y="433863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382000" y="5057775"/>
            <a:ext cx="320040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The Challenge: Road Safety Crisis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466106" y="1981200"/>
            <a:ext cx="178486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Global Impact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09600" y="2438400"/>
            <a:ext cx="3200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1.3M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89560" y="30861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Deaths annually from road accidents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09600" y="3314700"/>
            <a:ext cx="3200400" cy="182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Source: WHO, 2024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952500" y="393858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caused by human error including drowsiness and distraction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23900" y="4433888"/>
            <a:ext cx="2971800" cy="182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Source: NHTSA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906714" y="1981200"/>
            <a:ext cx="285410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Current Solution Gaps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914900" y="2438400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Lack of real-time capability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914900" y="2667000"/>
            <a:ext cx="2781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Existing systems cannot provide immediate alerts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914900" y="3162300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Low accuracy &amp; limited detection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914900" y="3390900"/>
            <a:ext cx="2781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Poor performance with multi-hazard detection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914900" y="3886200"/>
            <a:ext cx="278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Poor performance in diverse conditions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914900" y="4130341"/>
            <a:ext cx="2781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Inconsistent results across driving environments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838700" y="49530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Need for comprehensive, real-time solutions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9204127" y="1981200"/>
            <a:ext cx="186719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Industry Costs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8061960" y="2438400"/>
            <a:ext cx="38404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$100B+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8061960" y="30861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Insurance industry losses annually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8496300" y="361473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Impacts: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8724900" y="3919537"/>
            <a:ext cx="28049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Rising premiums for all drivers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8763000" y="4186238"/>
            <a:ext cx="270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Fleets operate without predictive intelligence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11343084" y="6286500"/>
            <a:ext cx="5614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</a:rPr>
              <a:t>2</a:t>
            </a: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962150"/>
            <a:ext cx="548640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27432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28575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3543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900" y="36576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24600" y="1181100"/>
            <a:ext cx="5486400" cy="12114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0" y="1371600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24600" y="2544961"/>
            <a:ext cx="54864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2735461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24600" y="3726061"/>
            <a:ext cx="54864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77000" y="3916561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24600" y="4907161"/>
            <a:ext cx="54864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77000" y="5097661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609600" y="219075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Key Achievements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1143000" y="2647950"/>
            <a:ext cx="280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143000" y="2990850"/>
            <a:ext cx="337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Reduction in driver-related accidents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1143000" y="3448050"/>
            <a:ext cx="82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1903214" y="3448050"/>
            <a:ext cx="12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2083891" y="3448050"/>
            <a:ext cx="82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1143000" y="3790950"/>
            <a:ext cx="46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Accuracy in eye detection &amp; behavior 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6781800" y="1333500"/>
            <a:ext cx="487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6781800" y="1600200"/>
            <a:ext cx="487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Reduce driver-related accidents by 40% through AI-powered real-time safety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6781800" y="2057400"/>
            <a:ext cx="4876800" cy="182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Source: WHO, 2024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6781800" y="2697361"/>
            <a:ext cx="487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6781800" y="2964061"/>
            <a:ext cx="487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Integrated dual deep-learning models achieving industry-leading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6781800" y="3878461"/>
            <a:ext cx="487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Market Impact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6781800" y="4145161"/>
            <a:ext cx="487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Multi-sector deployment across insurance, automotive, fleet management, and smart cities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6781800" y="5059561"/>
            <a:ext cx="487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Deployment Status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6781800" y="5326261"/>
            <a:ext cx="487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Fully integrated Streamlit platform with real-time alerts and analytics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11343084" y="6286500"/>
            <a:ext cx="5614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</a:rPr>
              <a:t>3</a:t>
            </a: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of 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943100"/>
            <a:ext cx="36576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2190750"/>
            <a:ext cx="5555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726" y="2324100"/>
            <a:ext cx="2571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29622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9600" y="32670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9600" y="35718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40422" y="2933700"/>
            <a:ext cx="669578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66888" y="5562600"/>
            <a:ext cx="152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995487" y="55626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386013" y="5562600"/>
            <a:ext cx="1524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14613" y="5562600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7200" y="1943100"/>
            <a:ext cx="36576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5800" y="2190750"/>
            <a:ext cx="496044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629448" y="232410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5800" y="29622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95800" y="32670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95800" y="35718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026622" y="2933700"/>
            <a:ext cx="669578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551140" y="5372100"/>
            <a:ext cx="1428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022628" y="5372100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472089" y="53721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3400" y="1943100"/>
            <a:ext cx="36576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4" name="Google Shape;154;p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382000" y="21717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5" name="Google Shape;155;p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567738" y="2305050"/>
            <a:ext cx="2000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6" name="Google Shape;156;p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382000" y="292417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394700" y="327977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912822" y="2895600"/>
            <a:ext cx="669578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415463" y="5524500"/>
            <a:ext cx="11334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9491663" y="56007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9777413" y="56007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9948863" y="5600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0177463" y="5600700"/>
            <a:ext cx="1047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0320338" y="56007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Our Solution: SafeDrive AI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381000" y="1104900"/>
            <a:ext cx="11430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 unified computer vision platform that simultaneously detects driver drowsiness and distracted driving behaviors with industry-leading accuracy.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317575" y="2171700"/>
            <a:ext cx="249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Eye State Detection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819150" y="2933700"/>
            <a:ext cx="18380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MRL Dataset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838200" y="3238500"/>
            <a:ext cx="18380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98%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838200" y="3543300"/>
            <a:ext cx="18380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&lt;100ms/frame latency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3310707" y="2987819"/>
            <a:ext cx="80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609600" y="40005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Detects drowsiness via eye closure patterns in real-time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5144244" y="2171700"/>
            <a:ext cx="2551956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Behavior Classification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4705350" y="2933700"/>
            <a:ext cx="25463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State Farm Dataset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4724400" y="3238500"/>
            <a:ext cx="25463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96%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4724400" y="3543300"/>
            <a:ext cx="25463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10+ behaviors detected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7211494" y="2987819"/>
            <a:ext cx="80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4495800" y="40005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Classifies distracted driving behaviors with multi-angle robustness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5377889" y="5676900"/>
            <a:ext cx="4895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Texting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5905515" y="5676900"/>
            <a:ext cx="424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372895" y="5676900"/>
            <a:ext cx="4366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Eating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9105900" y="2305050"/>
            <a:ext cx="293358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Unified Integration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8648700" y="2895600"/>
            <a:ext cx="28585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Multi-Modal Fusion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8572500" y="3263900"/>
            <a:ext cx="285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4B5563"/>
                </a:solidFill>
              </a:rPr>
              <a:t>Low</a:t>
            </a: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end-to-end latency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11086870" y="2938895"/>
            <a:ext cx="80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8382000" y="3962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Generates risk alerts and actionable safety insights in real-time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11343084" y="6286500"/>
            <a:ext cx="5614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9143338" y="2552700"/>
            <a:ext cx="285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</a:rPr>
              <a:t>	(Future work)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181100"/>
            <a:ext cx="24384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14450" y="20002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38275" y="2114550"/>
            <a:ext cx="3238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78101" y="1181100"/>
            <a:ext cx="24384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11551" y="190890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54426" y="2059842"/>
            <a:ext cx="2857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00538" y="2863850"/>
            <a:ext cx="593378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00538" y="3474915"/>
            <a:ext cx="593378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75200" y="1181100"/>
            <a:ext cx="24384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08652" y="18859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451527" y="2000250"/>
            <a:ext cx="2857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372300" y="1181100"/>
            <a:ext cx="24384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305752" y="18859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467677" y="2000250"/>
            <a:ext cx="2476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911375" y="45339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943600" y="45339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3" name="Google Shape;213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975825" y="45339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81000" y="5181600"/>
            <a:ext cx="114300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5" name="Google Shape;215;p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71500" y="54673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6" name="Google Shape;216;p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813304" y="546735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System Architecture: Multi-Model Pipeline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791021" y="2724150"/>
            <a:ext cx="19420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Stage 1: INPUT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509528" y="3067050"/>
            <a:ext cx="21813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Real-Time Video Stream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3568600" y="257175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Stage 2: DETECTION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4241200" y="2928793"/>
            <a:ext cx="71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3609677" y="321896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Eye State Drowsiness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4252024" y="3541246"/>
            <a:ext cx="71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3663791" y="3793392"/>
            <a:ext cx="186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Behavior Distraction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597848" y="2609850"/>
            <a:ext cx="23917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Stage 3: ANALYSIS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6565702" y="295275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Risk Assessment &amp; Fusion Engine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9674126" y="2609850"/>
            <a:ext cx="2201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Stage 4: OUTPUT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9562802" y="295275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Real-Time Alerts &amp; Analytics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914400" y="5372100"/>
            <a:ext cx="36372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Model Architecture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914400" y="5638800"/>
            <a:ext cx="363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CNN models (CNN + MobileNetV2)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9156204" y="5372100"/>
            <a:ext cx="295697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Safety Focus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9156204" y="5638800"/>
            <a:ext cx="29569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Real-time risk detection &amp; alerts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11343084" y="6286500"/>
            <a:ext cx="5614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0" name="Google Shape;2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447800"/>
            <a:ext cx="36385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" y="15621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" y="16764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5" name="Google Shape;24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0600" y="19050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0600" y="2171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7" name="Google Shape;24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0600" y="24384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8" name="Google Shape;2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3850" y="1447800"/>
            <a:ext cx="36385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9" name="Google Shape;24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48150" y="15621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0" name="Google Shape;25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71975" y="1676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1" name="Google Shape;251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43450" y="19050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43450" y="2171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3" name="Google Shape;25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2857500"/>
            <a:ext cx="36385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4" name="Google Shape;25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5300" y="29718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5" name="Google Shape;255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0075" y="30861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6" name="Google Shape;256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90600" y="33147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7" name="Google Shape;257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90600" y="3581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8" name="Google Shape;25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3850" y="2857500"/>
            <a:ext cx="36385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9" name="Google Shape;259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248150" y="29718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0" name="Google Shape;260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343400" y="30861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743450" y="33147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743450" y="38481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229600" y="1028700"/>
            <a:ext cx="35814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229600" y="3429000"/>
            <a:ext cx="358140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343900" y="39433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343900" y="42481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343900" y="45529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343900" y="48577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343900" y="516255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5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Phase 1: Requirements &amp; Planning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381000" y="1028700"/>
            <a:ext cx="88696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Software Development Lifecycle Approach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990600" y="1562100"/>
            <a:ext cx="322736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1028700" y="1866900"/>
            <a:ext cx="34559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Real-time detection capability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1028700" y="2133600"/>
            <a:ext cx="34559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Sub-100ms latency requirement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1028700" y="2400300"/>
            <a:ext cx="34559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&gt;98% accuracy threshold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4743450" y="1562100"/>
            <a:ext cx="30450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Dataset Selection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4800600" y="1866900"/>
            <a:ext cx="32736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MRL Dataset (eye state)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4781550" y="2133600"/>
            <a:ext cx="32736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State Farm Dataset (behavior)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990600" y="2971800"/>
            <a:ext cx="27442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Architecture Design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1066800" y="3276600"/>
            <a:ext cx="2972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Dual CNN pipelines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1009650" y="3543300"/>
            <a:ext cx="2972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Fusion engine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4743450" y="2971800"/>
            <a:ext cx="287089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Platform Choice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4762500" y="3276600"/>
            <a:ext cx="30994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TensorFlow/Keras framework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4629150" y="3543300"/>
            <a:ext cx="30994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Streamlit deployment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4781550" y="3810000"/>
            <a:ext cx="30994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Accessible web interface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8343900" y="1143000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SDLC Cycle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8343900" y="3543300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Success Metrics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8534400" y="3886200"/>
            <a:ext cx="83492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8534400" y="4191000"/>
            <a:ext cx="8159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8534400" y="4495800"/>
            <a:ext cx="545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8534400" y="4800600"/>
            <a:ext cx="7997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8534400" y="5105400"/>
            <a:ext cx="14909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Inference Speed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11343084" y="6286500"/>
            <a:ext cx="5614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5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9066451" y="1417155"/>
            <a:ext cx="1798875" cy="17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1" name="Google Shape;3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104900"/>
            <a:ext cx="56007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13335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5" name="Google Shape;30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325" y="142875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6" name="Google Shape;30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1828800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7" name="Google Shape;30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9600" y="2171700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8" name="Google Shape;308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9600" y="30099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9" name="Google Shape;309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76500" y="31432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76500" y="34099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476500" y="36766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9600" y="4457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011561" y="4457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435995" y="4457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1104900"/>
            <a:ext cx="56007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6" name="Google Shape;316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38900" y="13335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7" name="Google Shape;317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34150" y="1428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8" name="Google Shape;31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8900" y="1828800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9" name="Google Shape;31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8900" y="2171700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0" name="Google Shape;320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438900" y="30099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1" name="Google Shape;32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5800" y="31432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2" name="Google Shape;322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05800" y="34099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3" name="Google Shape;323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05800" y="367665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4" name="Google Shape;324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38900" y="4457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5" name="Google Shape;325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147000" y="4457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6" name="Google Shape;326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257407" y="44577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Phase 2: Analysis &amp; Data Preparation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1066800" y="1352550"/>
            <a:ext cx="261193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MRL Eye Dataset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857250" y="1828800"/>
            <a:ext cx="88225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84,898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1668661" y="1847850"/>
            <a:ext cx="14412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infrared images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857250" y="2190750"/>
            <a:ext cx="31000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2 classes: Open Eyes / Close Eyes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609600" y="2667000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Data Split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2667000" y="3086100"/>
            <a:ext cx="9651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Train: 70%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2667000" y="3352800"/>
            <a:ext cx="14292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Validation: 15%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2667000" y="3619500"/>
            <a:ext cx="8863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Test: 15%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609600" y="4149969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800100" y="4419600"/>
            <a:ext cx="127087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2202061" y="4419600"/>
            <a:ext cx="12978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3626495" y="4419600"/>
            <a:ext cx="212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Histogram equalization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6896100" y="1352550"/>
            <a:ext cx="30091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State Farm Dataset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686550" y="1828800"/>
            <a:ext cx="107370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22,000+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7657505" y="1847850"/>
            <a:ext cx="16628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annotated images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6686550" y="2190750"/>
            <a:ext cx="37995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10 classes: Safe + 9 distracted behaviors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6438900" y="2667000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Data Split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8496300" y="3086100"/>
            <a:ext cx="9651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Train: 70%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8496300" y="3352800"/>
            <a:ext cx="14292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Validation: 15%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8496300" y="3619500"/>
            <a:ext cx="8863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Test: 15%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6438900" y="4149969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6629400" y="4419600"/>
            <a:ext cx="163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Resize (224×224)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8337500" y="4419600"/>
            <a:ext cx="9210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Normalize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9447907" y="4419600"/>
            <a:ext cx="17795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11343084" y="6286500"/>
            <a:ext cx="5614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9" name="Google Shape;3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1" name="Google Shape;36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333500"/>
            <a:ext cx="370835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2" name="Google Shape;36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" y="1447800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3" name="Google Shape;36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524000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4" name="Google Shape;36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300" y="2115525"/>
            <a:ext cx="3479751" cy="29898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5" name="Google Shape;36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162175"/>
            <a:ext cx="33273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6" name="Google Shape;36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143250"/>
            <a:ext cx="33273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7" name="Google Shape;36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4200525"/>
            <a:ext cx="33273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8" name="Google Shape;368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5300" y="5218977"/>
            <a:ext cx="3479751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9" name="Google Shape;369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1500" y="5295900"/>
            <a:ext cx="1238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0" name="Google Shape;370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241750" y="1333500"/>
            <a:ext cx="370835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1" name="Google Shape;371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356050" y="1504950"/>
            <a:ext cx="3238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2" name="Google Shape;372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32250" y="1581150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3" name="Google Shape;373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356050" y="2095500"/>
            <a:ext cx="34797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4" name="Google Shape;374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432250" y="2200275"/>
            <a:ext cx="33273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5" name="Google Shape;375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432250" y="3200400"/>
            <a:ext cx="33273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6" name="Google Shape;376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432250" y="4314825"/>
            <a:ext cx="33273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7" name="Google Shape;377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356050" y="5218975"/>
            <a:ext cx="3479751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8" name="Google Shape;378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32250" y="5308600"/>
            <a:ext cx="1238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9" name="Google Shape;379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102501" y="1333500"/>
            <a:ext cx="370835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0" name="Google Shape;380;p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216801" y="1447800"/>
            <a:ext cx="3238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1" name="Google Shape;381;p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293001" y="1524000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2" name="Google Shape;382;p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216800" y="2095500"/>
            <a:ext cx="3479751" cy="3009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3" name="Google Shape;383;p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293001" y="2136775"/>
            <a:ext cx="1587401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4" name="Google Shape;384;p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032802" y="2149475"/>
            <a:ext cx="1587401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5" name="Google Shape;385;p7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293001" y="3219450"/>
            <a:ext cx="33273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6" name="Google Shape;386;p7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293001" y="4276725"/>
            <a:ext cx="33273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7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Phase 3: Design - Model Architecture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381000" y="952500"/>
            <a:ext cx="1371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Transfer learning approach with pre-trained CNN backbones optimized for real-time inference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981075" y="1524000"/>
            <a:ext cx="298323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Model 1: Eye Detection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1520875" y="2174875"/>
            <a:ext cx="399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lang="en-US" sz="1200">
                <a:solidFill>
                  <a:srgbClr val="1E40AF"/>
                </a:solidFill>
              </a:rPr>
              <a:t>128</a:t>
            </a:r>
            <a:r>
              <a:rPr lang="en-US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lang="en-US" sz="1200">
                <a:solidFill>
                  <a:srgbClr val="1E40AF"/>
                </a:solidFill>
              </a:rPr>
              <a:t>128</a:t>
            </a:r>
            <a:r>
              <a:rPr lang="en-US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lang="en-US" sz="1200">
                <a:solidFill>
                  <a:srgbClr val="1E40AF"/>
                </a:solidFill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571500" y="2595563"/>
            <a:ext cx="332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4951427" y="3200413"/>
            <a:ext cx="228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MobileNetV2 (11M params)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647700" y="3652838"/>
            <a:ext cx="332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1483816" y="4200525"/>
            <a:ext cx="3327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B21A8"/>
                </a:solidFill>
                <a:latin typeface="Arial"/>
                <a:ea typeface="Arial"/>
                <a:cs typeface="Arial"/>
                <a:sym typeface="Arial"/>
              </a:rPr>
              <a:t>Output: Open/Close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771525" y="5295900"/>
            <a:ext cx="117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Accuracy: 98%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4794200" y="1582127"/>
            <a:ext cx="3041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Model 2: Behavior Classification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5381625" y="2200275"/>
            <a:ext cx="399282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Input: 224×224×3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4432250" y="2681288"/>
            <a:ext cx="332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1493925" y="3181373"/>
            <a:ext cx="143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66534"/>
                </a:solidFill>
              </a:rPr>
              <a:t>CNN (4M params)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4432250" y="3681413"/>
            <a:ext cx="332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5285929" y="4314825"/>
            <a:ext cx="399282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B21A8"/>
                </a:solidFill>
                <a:latin typeface="Arial"/>
                <a:ea typeface="Arial"/>
                <a:cs typeface="Arial"/>
                <a:sym typeface="Arial"/>
              </a:rPr>
              <a:t>Output: 10 behaviors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4632275" y="5308600"/>
            <a:ext cx="117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Accuracy: 96%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8654951" y="1524000"/>
            <a:ext cx="18000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Fusion Engine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8693497" y="2174875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Eye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10235059" y="2162175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Behavior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8293001" y="2633663"/>
            <a:ext cx="332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9587400" y="3219450"/>
            <a:ext cx="203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91B1B"/>
                </a:solidFill>
              </a:rPr>
              <a:t>Separated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8293001" y="3729038"/>
            <a:ext cx="332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8965109" y="4276725"/>
            <a:ext cx="399282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21A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B21A8"/>
                </a:solidFill>
                <a:latin typeface="Arial"/>
                <a:ea typeface="Arial"/>
                <a:cs typeface="Arial"/>
                <a:sym typeface="Arial"/>
              </a:rPr>
              <a:t>Output: Risk Level + Alert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11343084" y="6286500"/>
            <a:ext cx="5614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7" name="Google Shape;4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8" name="Google Shape;4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9" name="Google Shape;41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13347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0" name="Google Shape;42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1600200"/>
            <a:ext cx="3657600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1" name="Google Shape;42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1752600"/>
            <a:ext cx="3238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2" name="Google Shape;42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600" y="185737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3" name="Google Shape;423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22479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4" name="Google Shape;42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25527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28575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6" name="Google Shape;42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34290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7" name="Google Shape;42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37338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8" name="Google Shape;42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67200" y="1600200"/>
            <a:ext cx="3657600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9" name="Google Shape;429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19600" y="17526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0" name="Google Shape;430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95800" y="18573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1" name="Google Shape;431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19600" y="22479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2" name="Google Shape;432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19600" y="25527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3" name="Google Shape;433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19600" y="28575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4" name="Google Shape;434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19600" y="34290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5" name="Google Shape;435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19600" y="37338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6" name="Google Shape;43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3400" y="1600200"/>
            <a:ext cx="3657600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7" name="Google Shape;437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05800" y="1752600"/>
            <a:ext cx="304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8" name="Google Shape;438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82000" y="18573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9" name="Google Shape;439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05800" y="22479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0" name="Google Shape;440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05800" y="25527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1" name="Google Shape;441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05800" y="2857500"/>
            <a:ext cx="3352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2" name="Google Shape;442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05800" y="3162300"/>
            <a:ext cx="3352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8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Phase 4: Development &amp; Model Training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609600" y="1076325"/>
            <a:ext cx="13716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Framework: </a:t>
            </a:r>
            <a:r>
              <a:rPr b="1"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TensorFlow/Keras</a:t>
            </a:r>
            <a:r>
              <a:rPr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|  Optimization: </a:t>
            </a:r>
            <a:r>
              <a:rPr b="1"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Adam (lr=0.001)</a:t>
            </a:r>
            <a:r>
              <a:rPr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|  Loss: </a:t>
            </a:r>
            <a:r>
              <a:rPr b="1"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Categorical Crossentropy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971550" y="1809750"/>
            <a:ext cx="235565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Eye State Training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533400" y="2286000"/>
            <a:ext cx="716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Epochs: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3692277" y="2286000"/>
            <a:ext cx="2327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533400" y="2590800"/>
            <a:ext cx="102084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Batch Size: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3692277" y="2590800"/>
            <a:ext cx="2327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533400" y="2895600"/>
            <a:ext cx="1854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Data Augmentation: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3640187" y="2895600"/>
            <a:ext cx="2952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685800" y="3162300"/>
            <a:ext cx="40233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- Random flip, rotation, brightness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533400" y="3467100"/>
            <a:ext cx="13723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Regularization: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2839713" y="3495675"/>
            <a:ext cx="14230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Dropout 0.5, L2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533400" y="3771900"/>
            <a:ext cx="13962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Early Stopping: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2916138" y="3771900"/>
            <a:ext cx="11640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Patience=10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4819650" y="1809750"/>
            <a:ext cx="22667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Behavior Training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4419600" y="2286000"/>
            <a:ext cx="716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Epochs: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7578477" y="2286000"/>
            <a:ext cx="2327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4419600" y="2590800"/>
            <a:ext cx="102084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Batch Size: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7578477" y="2590800"/>
            <a:ext cx="2327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4419600" y="2895600"/>
            <a:ext cx="1854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Data Augmentation: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7526387" y="2895600"/>
            <a:ext cx="29521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4572000" y="3162300"/>
            <a:ext cx="40233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- Random crop, zoom, color jitter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4419600" y="3467100"/>
            <a:ext cx="13723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Regularization: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6240211" y="3495675"/>
            <a:ext cx="22636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L2 (0.0001), Dropout 0.5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4419600" y="3771900"/>
            <a:ext cx="13962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Early Stopping: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8"/>
          <p:cNvSpPr/>
          <p:nvPr/>
        </p:nvSpPr>
        <p:spPr>
          <a:xfrm>
            <a:off x="6802338" y="3771900"/>
            <a:ext cx="11640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Patience=15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8724900" y="1809750"/>
            <a:ext cx="249834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Validation Strategy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8305800" y="2324100"/>
            <a:ext cx="139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Early Stopping: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9596189" y="2336800"/>
            <a:ext cx="25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 (monitor validation loss)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8305800" y="2628900"/>
            <a:ext cx="107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Best Model: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10128647" y="2616200"/>
            <a:ext cx="183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Checkpoint callback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8305800" y="2933700"/>
            <a:ext cx="103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Monitoring: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8"/>
          <p:cNvSpPr/>
          <p:nvPr/>
        </p:nvSpPr>
        <p:spPr>
          <a:xfrm>
            <a:off x="9593064" y="2908300"/>
            <a:ext cx="253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+ F1-score + AUC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11343084" y="6286500"/>
            <a:ext cx="5614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7647" y="4343400"/>
            <a:ext cx="3164517" cy="12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351125" y="4419600"/>
            <a:ext cx="3538485" cy="1160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5" name="Google Shape;4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8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6" name="Google Shape;4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7" name="Google Shape;48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200" y="1104900"/>
            <a:ext cx="36576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8" name="Google Shape;48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9700" y="1295400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9" name="Google Shape;48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85900" y="1371600"/>
            <a:ext cx="219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0" name="Google Shape;49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90750" y="2743200"/>
            <a:ext cx="1714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1" name="Google Shape;491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09700" y="4000500"/>
            <a:ext cx="32766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2" name="Google Shape;49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09700" y="4267200"/>
            <a:ext cx="32766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3" name="Google Shape;493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09700" y="4533900"/>
            <a:ext cx="32766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4" name="Google Shape;49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1900" y="1104900"/>
            <a:ext cx="36576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5" name="Google Shape;495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72400" y="1222900"/>
            <a:ext cx="3238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6" name="Google Shape;496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48600" y="1299100"/>
            <a:ext cx="1714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7" name="Google Shape;497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83600" y="2651650"/>
            <a:ext cx="1714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8" name="Google Shape;49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72400" y="3928000"/>
            <a:ext cx="32766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9" name="Google Shape;499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72400" y="4194700"/>
            <a:ext cx="32766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0" name="Google Shape;500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72400" y="4461400"/>
            <a:ext cx="32766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9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Phase 5: Testing - Performance Results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1895475" y="1371600"/>
            <a:ext cx="2564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Eye State Detection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1539213" y="1962150"/>
            <a:ext cx="327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1409700" y="2400300"/>
            <a:ext cx="327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9"/>
          <p:cNvSpPr/>
          <p:nvPr/>
        </p:nvSpPr>
        <p:spPr>
          <a:xfrm>
            <a:off x="1419225" y="4000500"/>
            <a:ext cx="1959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Precision: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3378994" y="4000500"/>
            <a:ext cx="131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97.8%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9"/>
          <p:cNvSpPr/>
          <p:nvPr/>
        </p:nvSpPr>
        <p:spPr>
          <a:xfrm>
            <a:off x="1419225" y="4267200"/>
            <a:ext cx="1959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Recall: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9"/>
          <p:cNvSpPr/>
          <p:nvPr/>
        </p:nvSpPr>
        <p:spPr>
          <a:xfrm>
            <a:off x="3378994" y="4267200"/>
            <a:ext cx="131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98.2%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9"/>
          <p:cNvSpPr/>
          <p:nvPr/>
        </p:nvSpPr>
        <p:spPr>
          <a:xfrm>
            <a:off x="1419225" y="4533900"/>
            <a:ext cx="1959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F1-Score: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9"/>
          <p:cNvSpPr/>
          <p:nvPr/>
        </p:nvSpPr>
        <p:spPr>
          <a:xfrm>
            <a:off x="3378994" y="4533900"/>
            <a:ext cx="131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98.0%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9"/>
          <p:cNvSpPr/>
          <p:nvPr/>
        </p:nvSpPr>
        <p:spPr>
          <a:xfrm>
            <a:off x="1419225" y="4800600"/>
            <a:ext cx="1959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Latency: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/>
          <p:nvPr/>
        </p:nvSpPr>
        <p:spPr>
          <a:xfrm>
            <a:off x="3378994" y="4800600"/>
            <a:ext cx="131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45ms</a:t>
            </a:r>
            <a:r>
              <a:rPr lang="en-US" sz="1050"/>
              <a:t>/frame</a:t>
            </a:r>
            <a:endParaRPr sz="1050"/>
          </a:p>
        </p:txBody>
      </p:sp>
      <p:sp>
        <p:nvSpPr>
          <p:cNvPr id="513" name="Google Shape;513;p9"/>
          <p:cNvSpPr/>
          <p:nvPr/>
        </p:nvSpPr>
        <p:spPr>
          <a:xfrm>
            <a:off x="8210000" y="1305450"/>
            <a:ext cx="294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Behavior Classification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9"/>
          <p:cNvSpPr/>
          <p:nvPr/>
        </p:nvSpPr>
        <p:spPr>
          <a:xfrm>
            <a:off x="7772400" y="1870600"/>
            <a:ext cx="327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7772400" y="2327800"/>
            <a:ext cx="327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9"/>
          <p:cNvSpPr/>
          <p:nvPr/>
        </p:nvSpPr>
        <p:spPr>
          <a:xfrm>
            <a:off x="7781925" y="3928000"/>
            <a:ext cx="1959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Precision: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9"/>
          <p:cNvSpPr/>
          <p:nvPr/>
        </p:nvSpPr>
        <p:spPr>
          <a:xfrm>
            <a:off x="9741694" y="3928000"/>
            <a:ext cx="131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95.8%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7781925" y="4194700"/>
            <a:ext cx="1959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Recall: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9"/>
          <p:cNvSpPr/>
          <p:nvPr/>
        </p:nvSpPr>
        <p:spPr>
          <a:xfrm>
            <a:off x="9741694" y="4194700"/>
            <a:ext cx="131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96.1%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7781925" y="4461400"/>
            <a:ext cx="1959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F1-Score: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9741694" y="4461400"/>
            <a:ext cx="131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95.9%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9"/>
          <p:cNvSpPr/>
          <p:nvPr/>
        </p:nvSpPr>
        <p:spPr>
          <a:xfrm>
            <a:off x="7781925" y="4728100"/>
            <a:ext cx="1959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Latency: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9"/>
          <p:cNvSpPr/>
          <p:nvPr/>
        </p:nvSpPr>
        <p:spPr>
          <a:xfrm>
            <a:off x="9741694" y="4728100"/>
            <a:ext cx="131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200ms/frame on CPU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9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9"/>
          <p:cNvSpPr/>
          <p:nvPr/>
        </p:nvSpPr>
        <p:spPr>
          <a:xfrm>
            <a:off x="11258252" y="6286500"/>
            <a:ext cx="6632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1" name="Google Shape;5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2" name="Google Shape;5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3" name="Google Shape;53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562100"/>
            <a:ext cx="36576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4" name="Google Shape;53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7526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5" name="Google Shape;53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18288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6" name="Google Shape;536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247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7" name="Google Shape;53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5908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8" name="Google Shape;53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933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9" name="Google Shape;539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2893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0" name="Google Shape;54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7200" y="1562100"/>
            <a:ext cx="36576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1" name="Google Shape;54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7700" y="17526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2" name="Google Shape;542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3900" y="18288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3" name="Google Shape;54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57700" y="2247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4" name="Google Shape;54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57700" y="25908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5" name="Google Shape;54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3400" y="1562100"/>
            <a:ext cx="36576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6" name="Google Shape;546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43900" y="17526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7" name="Google Shape;547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9150" y="18288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8" name="Google Shape;54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2247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9" name="Google Shape;549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28194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0" name="Google Shape;55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33909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1" name="Google Shape;551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39624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2" name="Google Shape;552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286000" y="5372100"/>
            <a:ext cx="7620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Phase 6: Deployment - Architecture &amp; Platforms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0"/>
          <p:cNvSpPr/>
          <p:nvPr/>
        </p:nvSpPr>
        <p:spPr>
          <a:xfrm>
            <a:off x="381000" y="1104900"/>
            <a:ext cx="1371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Streamlit web application with real-time video processing, analytics dashboard, and multi-stakeholder outputs.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990600" y="1771650"/>
            <a:ext cx="244887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Streamlit Interface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0"/>
          <p:cNvSpPr/>
          <p:nvPr/>
        </p:nvSpPr>
        <p:spPr>
          <a:xfrm>
            <a:off x="800100" y="2209800"/>
            <a:ext cx="29426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webcam/video upload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800100" y="2552700"/>
            <a:ext cx="25238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Drag-and-drop file handling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0"/>
          <p:cNvSpPr/>
          <p:nvPr/>
        </p:nvSpPr>
        <p:spPr>
          <a:xfrm>
            <a:off x="800100" y="28956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detection overlay with bounding boxes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800100" y="3251200"/>
            <a:ext cx="226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Frame-by-frame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0"/>
          <p:cNvSpPr/>
          <p:nvPr/>
        </p:nvSpPr>
        <p:spPr>
          <a:xfrm>
            <a:off x="4876800" y="1771650"/>
            <a:ext cx="22045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Analytics Module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4686300" y="2209800"/>
            <a:ext cx="267229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score tracking over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0"/>
          <p:cNvSpPr/>
          <p:nvPr/>
        </p:nvSpPr>
        <p:spPr>
          <a:xfrm>
            <a:off x="4686300" y="2552700"/>
            <a:ext cx="27924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Behavioral pattern recognition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8763000" y="1771650"/>
            <a:ext cx="23408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284C7"/>
                </a:solidFill>
              </a:rPr>
              <a:t>Future</a:t>
            </a:r>
            <a:r>
              <a:rPr b="1" lang="en-US" sz="15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 Points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8572500" y="22098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 endpoints for third-party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8572500" y="27813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deployment ready (AWS/Google Cloud/Azure)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8572500" y="33528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edge support (lightweight model deployment)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0"/>
          <p:cNvSpPr/>
          <p:nvPr/>
        </p:nvSpPr>
        <p:spPr>
          <a:xfrm>
            <a:off x="8572500" y="39243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Third-party integration (telematics, OEM systems)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0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0"/>
          <p:cNvSpPr/>
          <p:nvPr/>
        </p:nvSpPr>
        <p:spPr>
          <a:xfrm>
            <a:off x="11258252" y="6286500"/>
            <a:ext cx="6632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0" name="Google Shape;57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6449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0"/>
          <p:cNvSpPr/>
          <p:nvPr/>
        </p:nvSpPr>
        <p:spPr>
          <a:xfrm>
            <a:off x="800100" y="3600450"/>
            <a:ext cx="226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Eye State alerts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7" name="Google Shape;577;g3adc8b8926f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8" name="Google Shape;578;g3adc8b8926f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780325"/>
            <a:ext cx="914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g3adc8b8926f_0_15"/>
          <p:cNvSpPr/>
          <p:nvPr/>
        </p:nvSpPr>
        <p:spPr>
          <a:xfrm>
            <a:off x="304800" y="304800"/>
            <a:ext cx="1389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284C7"/>
                </a:solidFill>
              </a:rPr>
              <a:t>Interface for MRL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adc8b8926f_0_15"/>
          <p:cNvSpPr/>
          <p:nvPr/>
        </p:nvSpPr>
        <p:spPr>
          <a:xfrm>
            <a:off x="304800" y="6362700"/>
            <a:ext cx="155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adc8b8926f_0_15"/>
          <p:cNvSpPr/>
          <p:nvPr/>
        </p:nvSpPr>
        <p:spPr>
          <a:xfrm>
            <a:off x="11334452" y="6362700"/>
            <a:ext cx="663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>
                <a:solidFill>
                  <a:srgbClr val="6B7280"/>
                </a:solidFill>
              </a:rPr>
              <a:t>6</a:t>
            </a: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2" name="Google Shape;582;g3adc8b8926f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475" y="983462"/>
            <a:ext cx="11293050" cy="52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8" name="Google Shape;5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9" name="Google Shape;5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952500"/>
            <a:ext cx="914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1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Real-Time Testing: MRL Eye State Detection (First Demo)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1"/>
          <p:cNvSpPr/>
          <p:nvPr/>
        </p:nvSpPr>
        <p:spPr>
          <a:xfrm>
            <a:off x="304800" y="647700"/>
            <a:ext cx="1158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Live Demonstration of 98% Accuracy Drowsiness Detection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1"/>
          <p:cNvSpPr/>
          <p:nvPr/>
        </p:nvSpPr>
        <p:spPr>
          <a:xfrm>
            <a:off x="304800" y="63627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1"/>
          <p:cNvSpPr/>
          <p:nvPr/>
        </p:nvSpPr>
        <p:spPr>
          <a:xfrm>
            <a:off x="11334452" y="6362700"/>
            <a:ext cx="6632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12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4" name="Google Shape;594;p11" title="MRL real time video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3375" y="1193787"/>
            <a:ext cx="6448974" cy="483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9" name="Google Shape;599;g3adc8b8926f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g3adc8b8926f_1_1" title="MRL in car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4350" y="990600"/>
            <a:ext cx="3138950" cy="4719424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g3adc8b8926f_1_1"/>
          <p:cNvSpPr/>
          <p:nvPr/>
        </p:nvSpPr>
        <p:spPr>
          <a:xfrm>
            <a:off x="304800" y="304800"/>
            <a:ext cx="1389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Real-Time Testing: MRL Eye State Detection (</a:t>
            </a:r>
            <a:r>
              <a:rPr b="1" lang="en-US" sz="2250">
                <a:solidFill>
                  <a:srgbClr val="0284C7"/>
                </a:solidFill>
              </a:rPr>
              <a:t>Enhanced</a:t>
            </a:r>
            <a:r>
              <a:rPr b="1" lang="en-US" sz="225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adc8b8926f_1_1"/>
          <p:cNvSpPr/>
          <p:nvPr/>
        </p:nvSpPr>
        <p:spPr>
          <a:xfrm>
            <a:off x="304800" y="647700"/>
            <a:ext cx="1158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Live Demonstration of 98% Accuracy Drowsiness Detection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3" name="Google Shape;603;g3adc8b8926f_1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800" y="952500"/>
            <a:ext cx="9144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9" name="Google Shape;609;g3adc8b8926f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49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0" name="Google Shape;610;g3adc8b8926f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990600"/>
            <a:ext cx="914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g3adc8b8926f_0_3"/>
          <p:cNvSpPr/>
          <p:nvPr/>
        </p:nvSpPr>
        <p:spPr>
          <a:xfrm>
            <a:off x="304800" y="304800"/>
            <a:ext cx="1389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Real-Time Testing: State Farm Behavior Classification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adc8b8926f_0_3"/>
          <p:cNvSpPr/>
          <p:nvPr/>
        </p:nvSpPr>
        <p:spPr>
          <a:xfrm>
            <a:off x="304800" y="647700"/>
            <a:ext cx="1389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Live demonstration of 96% accuracy 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adc8b8926f_0_3"/>
          <p:cNvSpPr/>
          <p:nvPr/>
        </p:nvSpPr>
        <p:spPr>
          <a:xfrm>
            <a:off x="304800" y="6362700"/>
            <a:ext cx="155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adc8b8926f_0_3"/>
          <p:cNvSpPr/>
          <p:nvPr/>
        </p:nvSpPr>
        <p:spPr>
          <a:xfrm>
            <a:off x="11334452" y="6362700"/>
            <a:ext cx="663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>
                <a:solidFill>
                  <a:srgbClr val="6B7280"/>
                </a:solidFill>
              </a:rPr>
              <a:t>3 </a:t>
            </a: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5" name="Google Shape;615;g3adc8b8926f_0_3" title="Screen Recording 2025-11-26 203632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4075" y="1028700"/>
            <a:ext cx="794385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1" name="Google Shape;6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49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2" name="Google Shape;62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990600"/>
            <a:ext cx="914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12"/>
          <p:cNvSpPr/>
          <p:nvPr/>
        </p:nvSpPr>
        <p:spPr>
          <a:xfrm>
            <a:off x="304800" y="304800"/>
            <a:ext cx="138988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Real-Time Testing: State Farm Behavior Classification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2"/>
          <p:cNvSpPr/>
          <p:nvPr/>
        </p:nvSpPr>
        <p:spPr>
          <a:xfrm>
            <a:off x="304800" y="647700"/>
            <a:ext cx="138988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Live demonstration of 96% accuracy 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2"/>
          <p:cNvSpPr/>
          <p:nvPr/>
        </p:nvSpPr>
        <p:spPr>
          <a:xfrm>
            <a:off x="304800" y="63627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2"/>
          <p:cNvSpPr/>
          <p:nvPr/>
        </p:nvSpPr>
        <p:spPr>
          <a:xfrm>
            <a:off x="11334452" y="6362700"/>
            <a:ext cx="6632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>
                <a:solidFill>
                  <a:srgbClr val="6B7280"/>
                </a:solidFill>
              </a:rPr>
              <a:t>4</a:t>
            </a: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7" name="Google Shape;627;p12" title="state farm video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7401" y="1171575"/>
            <a:ext cx="9017208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3" name="Google Shape;633;g3adc8b8926f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4" name="Google Shape;634;g3adc8b8926f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780325"/>
            <a:ext cx="914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g3adc8b8926f_0_26"/>
          <p:cNvSpPr/>
          <p:nvPr/>
        </p:nvSpPr>
        <p:spPr>
          <a:xfrm>
            <a:off x="304800" y="304800"/>
            <a:ext cx="1389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284C7"/>
                </a:solidFill>
              </a:rPr>
              <a:t>Interface for state farm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adc8b8926f_0_26"/>
          <p:cNvSpPr/>
          <p:nvPr/>
        </p:nvSpPr>
        <p:spPr>
          <a:xfrm>
            <a:off x="304800" y="6362700"/>
            <a:ext cx="155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adc8b8926f_0_26"/>
          <p:cNvSpPr/>
          <p:nvPr/>
        </p:nvSpPr>
        <p:spPr>
          <a:xfrm>
            <a:off x="11334452" y="6362700"/>
            <a:ext cx="663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>
                <a:solidFill>
                  <a:srgbClr val="6B7280"/>
                </a:solidFill>
              </a:rPr>
              <a:t>5</a:t>
            </a: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8" name="Google Shape;638;g3adc8b8926f_0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55" y="1071124"/>
            <a:ext cx="11335283" cy="503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4" name="Google Shape;644;g3aa7f5d973a_5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5" name="Google Shape;645;g3aa7f5d973a_5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800100"/>
            <a:ext cx="914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g3aa7f5d973a_5_1"/>
          <p:cNvSpPr/>
          <p:nvPr/>
        </p:nvSpPr>
        <p:spPr>
          <a:xfrm>
            <a:off x="304800" y="304800"/>
            <a:ext cx="1389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284C7"/>
                </a:solidFill>
              </a:rPr>
              <a:t>Future Work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aa7f5d973a_5_1"/>
          <p:cNvSpPr/>
          <p:nvPr/>
        </p:nvSpPr>
        <p:spPr>
          <a:xfrm>
            <a:off x="304800" y="6362700"/>
            <a:ext cx="155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aa7f5d973a_5_1"/>
          <p:cNvSpPr/>
          <p:nvPr/>
        </p:nvSpPr>
        <p:spPr>
          <a:xfrm>
            <a:off x="11334452" y="6362700"/>
            <a:ext cx="663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>
                <a:solidFill>
                  <a:srgbClr val="6B7280"/>
                </a:solidFill>
              </a:rPr>
              <a:t>7</a:t>
            </a: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aa7f5d973a_5_1"/>
          <p:cNvSpPr txBox="1"/>
          <p:nvPr/>
        </p:nvSpPr>
        <p:spPr>
          <a:xfrm>
            <a:off x="6298200" y="1708200"/>
            <a:ext cx="5473500" cy="344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B5394"/>
                </a:solidFill>
              </a:rPr>
              <a:t>Sound Alerts &amp; Full IoT Integration</a:t>
            </a:r>
            <a:endParaRPr b="1" sz="19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Extending the system into a full IoT-enabled safety solution: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Adding sound alerts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Integrating with IoT modules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Smart car dashboard systems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Raspberry Pi / edge devices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Cloud-connected monitoring dashboards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>
                <a:solidFill>
                  <a:schemeClr val="dk1"/>
                </a:solidFill>
              </a:rPr>
              <a:t>Allowing real-time communication between the detection models and vehicle components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50" name="Google Shape;650;g3aa7f5d973a_5_1"/>
          <p:cNvSpPr txBox="1"/>
          <p:nvPr/>
        </p:nvSpPr>
        <p:spPr>
          <a:xfrm>
            <a:off x="417775" y="1708200"/>
            <a:ext cx="5473500" cy="344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B5394"/>
                </a:solidFill>
              </a:rPr>
              <a:t>Dataset Expansion &amp; Diversity</a:t>
            </a:r>
            <a:endParaRPr b="1" sz="19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Improve generalization and reduce bias regarding lighting conditions, camera angles, and driver appearances.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Collecting diverse dataset covering different genders, behaviours, ages, environments, and camera qualities.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Capturing data across various real-world scenarios such as nighttime driving, reflections, glasses, headwear, and strong sunlight.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Incorporating multiple car models and seating positions to enhance robustness.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6" name="Google Shape;656;g3adc8b8926f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7" name="Google Shape;657;g3adc8b8926f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800100"/>
            <a:ext cx="9144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g3adc8b8926f_0_38"/>
          <p:cNvSpPr/>
          <p:nvPr/>
        </p:nvSpPr>
        <p:spPr>
          <a:xfrm>
            <a:off x="304800" y="304800"/>
            <a:ext cx="1389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0284C7"/>
                </a:solidFill>
              </a:rPr>
              <a:t>M</a:t>
            </a:r>
            <a:r>
              <a:rPr b="1" lang="en-US" sz="2250">
                <a:solidFill>
                  <a:srgbClr val="0284C7"/>
                </a:solidFill>
              </a:rPr>
              <a:t>odel Integration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g3adc8b8926f_0_38"/>
          <p:cNvSpPr/>
          <p:nvPr/>
        </p:nvSpPr>
        <p:spPr>
          <a:xfrm>
            <a:off x="304800" y="6362700"/>
            <a:ext cx="155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g3adc8b8926f_0_38"/>
          <p:cNvSpPr/>
          <p:nvPr/>
        </p:nvSpPr>
        <p:spPr>
          <a:xfrm>
            <a:off x="11334452" y="6362700"/>
            <a:ext cx="663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>
                <a:solidFill>
                  <a:srgbClr val="6B7280"/>
                </a:solidFill>
              </a:rPr>
              <a:t>8</a:t>
            </a: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1" name="Google Shape;661;g3adc8b8926f_0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2600" y="2568300"/>
            <a:ext cx="7066800" cy="37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g3adc8b8926f_0_38"/>
          <p:cNvSpPr txBox="1"/>
          <p:nvPr/>
        </p:nvSpPr>
        <p:spPr>
          <a:xfrm>
            <a:off x="372025" y="993450"/>
            <a:ext cx="10209900" cy="136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This integration provides: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A fused risk score combining distraction + fatigue signals.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Improved temporal reasoning across both models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More accurate classification in borderline or ambiguous cases.</a:t>
            </a:r>
            <a:endParaRPr sz="1800"/>
          </a:p>
        </p:txBody>
      </p:sp>
      <p:sp>
        <p:nvSpPr>
          <p:cNvPr id="663" name="Google Shape;663;g3adc8b8926f_0_38"/>
          <p:cNvSpPr txBox="1"/>
          <p:nvPr/>
        </p:nvSpPr>
        <p:spPr>
          <a:xfrm>
            <a:off x="10914200" y="993450"/>
            <a:ext cx="914400" cy="41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6"/>
              </a:rPr>
              <a:t>Repo 1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64" name="Google Shape;664;g3adc8b8926f_0_38"/>
          <p:cNvSpPr txBox="1"/>
          <p:nvPr/>
        </p:nvSpPr>
        <p:spPr>
          <a:xfrm>
            <a:off x="10914200" y="1754700"/>
            <a:ext cx="914400" cy="41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 u="sng">
                <a:solidFill>
                  <a:schemeClr val="hlink"/>
                </a:solidFill>
                <a:hlinkClick r:id="rId7"/>
              </a:rPr>
              <a:t>Repo 2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0" name="Google Shape;6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1" name="Google Shape;6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2" name="Google Shape;67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104900"/>
            <a:ext cx="11429999" cy="140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3" name="Google Shape;67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1600200"/>
            <a:ext cx="11125202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4" name="Google Shape;67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000" y="2590800"/>
            <a:ext cx="27432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5" name="Google Shape;67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27432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6" name="Google Shape;676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4850" y="28765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7" name="Google Shape;677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44196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8" name="Google Shape;67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46482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9" name="Google Shape;67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6600" y="2590800"/>
            <a:ext cx="27432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0" name="Google Shape;680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29000" y="27432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1" name="Google Shape;681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00450" y="28765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2" name="Google Shape;68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29000" y="44196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3" name="Google Shape;68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29000" y="46482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4" name="Google Shape;68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29000" y="48768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5" name="Google Shape;685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172200" y="2590800"/>
            <a:ext cx="27432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6" name="Google Shape;686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24600" y="2743200"/>
            <a:ext cx="51375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7" name="Google Shape;687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38602" y="2876550"/>
            <a:ext cx="2857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8" name="Google Shape;688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24600" y="41910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9" name="Google Shape;689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24600" y="44196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0" name="Google Shape;690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24600" y="46482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1" name="Google Shape;6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2590800"/>
            <a:ext cx="27432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2" name="Google Shape;692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220200" y="27432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3" name="Google Shape;693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363075" y="2876550"/>
            <a:ext cx="2857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4" name="Google Shape;69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20200" y="44196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5" name="Google Shape;69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20200" y="46482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6" name="Google Shape;69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20200" y="4876800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13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Real-World Applications: Multi-Sector Impact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3"/>
          <p:cNvSpPr/>
          <p:nvPr/>
        </p:nvSpPr>
        <p:spPr>
          <a:xfrm>
            <a:off x="533400" y="1257300"/>
            <a:ext cx="11125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Market Size Comparison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3"/>
          <p:cNvSpPr/>
          <p:nvPr/>
        </p:nvSpPr>
        <p:spPr>
          <a:xfrm>
            <a:off x="1219200" y="2895600"/>
            <a:ext cx="126694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Insurance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3"/>
          <p:cNvSpPr/>
          <p:nvPr/>
        </p:nvSpPr>
        <p:spPr>
          <a:xfrm>
            <a:off x="533400" y="34290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 CAS</a:t>
            </a:r>
            <a:r>
              <a:rPr b="1"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3"/>
          <p:cNvSpPr/>
          <p:nvPr/>
        </p:nvSpPr>
        <p:spPr>
          <a:xfrm>
            <a:off x="533400" y="3619500"/>
            <a:ext cx="243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Claims assessment &amp; risk profiling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3"/>
          <p:cNvSpPr/>
          <p:nvPr/>
        </p:nvSpPr>
        <p:spPr>
          <a:xfrm>
            <a:off x="533400" y="41910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3"/>
          <p:cNvSpPr/>
          <p:nvPr/>
        </p:nvSpPr>
        <p:spPr>
          <a:xfrm>
            <a:off x="742950" y="4381500"/>
            <a:ext cx="224224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Reduce false claims by 30%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3"/>
          <p:cNvSpPr/>
          <p:nvPr/>
        </p:nvSpPr>
        <p:spPr>
          <a:xfrm>
            <a:off x="742950" y="4610100"/>
            <a:ext cx="2228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Premium differentiation based on behavior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3"/>
          <p:cNvSpPr/>
          <p:nvPr/>
        </p:nvSpPr>
        <p:spPr>
          <a:xfrm>
            <a:off x="4114800" y="2895600"/>
            <a:ext cx="149304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Automotive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3429000" y="34290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 CASE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3"/>
          <p:cNvSpPr/>
          <p:nvPr/>
        </p:nvSpPr>
        <p:spPr>
          <a:xfrm>
            <a:off x="3429000" y="3619500"/>
            <a:ext cx="243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In-vehicle safety system &amp; ADAS support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3"/>
          <p:cNvSpPr/>
          <p:nvPr/>
        </p:nvSpPr>
        <p:spPr>
          <a:xfrm>
            <a:off x="3429000" y="41910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3"/>
          <p:cNvSpPr/>
          <p:nvPr/>
        </p:nvSpPr>
        <p:spPr>
          <a:xfrm>
            <a:off x="3638550" y="4381500"/>
            <a:ext cx="9026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Alert driver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3"/>
          <p:cNvSpPr/>
          <p:nvPr/>
        </p:nvSpPr>
        <p:spPr>
          <a:xfrm>
            <a:off x="3638550" y="4610100"/>
            <a:ext cx="104370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Trigger ADAS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3"/>
          <p:cNvSpPr/>
          <p:nvPr/>
        </p:nvSpPr>
        <p:spPr>
          <a:xfrm>
            <a:off x="3638550" y="4838700"/>
            <a:ext cx="2228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Support autonomous driving features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3"/>
          <p:cNvSpPr/>
          <p:nvPr/>
        </p:nvSpPr>
        <p:spPr>
          <a:xfrm>
            <a:off x="6952655" y="2860926"/>
            <a:ext cx="1810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Fleet Management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3"/>
          <p:cNvSpPr/>
          <p:nvPr/>
        </p:nvSpPr>
        <p:spPr>
          <a:xfrm>
            <a:off x="6324600" y="34290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 CASE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3"/>
          <p:cNvSpPr/>
          <p:nvPr/>
        </p:nvSpPr>
        <p:spPr>
          <a:xfrm>
            <a:off x="6324600" y="36195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Driver monitoring &amp; coaching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3"/>
          <p:cNvSpPr/>
          <p:nvPr/>
        </p:nvSpPr>
        <p:spPr>
          <a:xfrm>
            <a:off x="6324600" y="39624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3"/>
          <p:cNvSpPr/>
          <p:nvPr/>
        </p:nvSpPr>
        <p:spPr>
          <a:xfrm>
            <a:off x="6534150" y="4152900"/>
            <a:ext cx="126801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Real-time alerts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3"/>
          <p:cNvSpPr/>
          <p:nvPr/>
        </p:nvSpPr>
        <p:spPr>
          <a:xfrm>
            <a:off x="6534150" y="4381500"/>
            <a:ext cx="16193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Behavioral analytics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3"/>
          <p:cNvSpPr/>
          <p:nvPr/>
        </p:nvSpPr>
        <p:spPr>
          <a:xfrm>
            <a:off x="6534150" y="4610100"/>
            <a:ext cx="206257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Reduce accidents by 40%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3"/>
          <p:cNvSpPr/>
          <p:nvPr/>
        </p:nvSpPr>
        <p:spPr>
          <a:xfrm>
            <a:off x="9906000" y="2895600"/>
            <a:ext cx="158359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Smart Cities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3"/>
          <p:cNvSpPr/>
          <p:nvPr/>
        </p:nvSpPr>
        <p:spPr>
          <a:xfrm>
            <a:off x="9220200" y="34290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 CASE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3"/>
          <p:cNvSpPr/>
          <p:nvPr/>
        </p:nvSpPr>
        <p:spPr>
          <a:xfrm>
            <a:off x="9220200" y="3619500"/>
            <a:ext cx="243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Road safety infrastructure &amp; </a:t>
            </a: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ncident prevention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3"/>
          <p:cNvSpPr/>
          <p:nvPr/>
        </p:nvSpPr>
        <p:spPr>
          <a:xfrm>
            <a:off x="9220200" y="41910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3"/>
          <p:cNvSpPr/>
          <p:nvPr/>
        </p:nvSpPr>
        <p:spPr>
          <a:xfrm>
            <a:off x="9429750" y="4381500"/>
            <a:ext cx="16035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Traffic management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3"/>
          <p:cNvSpPr/>
          <p:nvPr/>
        </p:nvSpPr>
        <p:spPr>
          <a:xfrm>
            <a:off x="9429750" y="4610100"/>
            <a:ext cx="14989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Incident prediction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3"/>
          <p:cNvSpPr/>
          <p:nvPr/>
        </p:nvSpPr>
        <p:spPr>
          <a:xfrm>
            <a:off x="9429750" y="4838700"/>
            <a:ext cx="2228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Data analytics for urban planning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3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3"/>
          <p:cNvSpPr/>
          <p:nvPr/>
        </p:nvSpPr>
        <p:spPr>
          <a:xfrm>
            <a:off x="11258252" y="6286500"/>
            <a:ext cx="6632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>
                <a:solidFill>
                  <a:srgbClr val="6B7280"/>
                </a:solidFill>
              </a:rPr>
              <a:t>9</a:t>
            </a: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3" name="Google Shape;7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4" name="Google Shape;7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5" name="Google Shape;73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028700"/>
            <a:ext cx="11430000" cy="138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6" name="Google Shape;73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96270" y="264318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7" name="Google Shape;73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7720" y="2776538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8" name="Google Shape;73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21746" y="3176588"/>
            <a:ext cx="2438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9" name="Google Shape;73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69027" y="264318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0" name="Google Shape;740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1902" y="2776538"/>
            <a:ext cx="2857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1" name="Google Shape;74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24000" y="397668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2" name="Google Shape;742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14500" y="4129088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3" name="Google Shape;743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381500" y="397668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4" name="Google Shape;744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72000" y="4129088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5" name="Google Shape;745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39000" y="397668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6" name="Google Shape;746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405688" y="4129088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7" name="Google Shape;747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096500" y="397668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8" name="Google Shape;748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263188" y="4129088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9" name="Google Shape;749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81000" y="5233988"/>
            <a:ext cx="114300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19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Conclusion: Saving Lives Through AI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9"/>
          <p:cNvSpPr/>
          <p:nvPr/>
        </p:nvSpPr>
        <p:spPr>
          <a:xfrm>
            <a:off x="609600" y="1257300"/>
            <a:ext cx="10972800" cy="928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33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SafeDrive AI represents a transformative shift in driver safety. By combining dual high-accuracy detection models with enterprise-grade deployment, we bridge the gap between academic research and real-world impact across insurance, automotive, fleet, and smart city sectors.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9"/>
          <p:cNvSpPr/>
          <p:nvPr/>
        </p:nvSpPr>
        <p:spPr>
          <a:xfrm>
            <a:off x="2780273" y="3328988"/>
            <a:ext cx="20036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Academic Research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9"/>
          <p:cNvSpPr/>
          <p:nvPr/>
        </p:nvSpPr>
        <p:spPr>
          <a:xfrm>
            <a:off x="2780273" y="3557588"/>
            <a:ext cx="20036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Innovative AI Models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9"/>
          <p:cNvSpPr/>
          <p:nvPr/>
        </p:nvSpPr>
        <p:spPr>
          <a:xfrm>
            <a:off x="7506965" y="3328988"/>
            <a:ext cx="189577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Real-World Impact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9"/>
          <p:cNvSpPr/>
          <p:nvPr/>
        </p:nvSpPr>
        <p:spPr>
          <a:xfrm>
            <a:off x="7506965" y="3557588"/>
            <a:ext cx="189577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Multi-Sector Solutions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9"/>
          <p:cNvSpPr/>
          <p:nvPr/>
        </p:nvSpPr>
        <p:spPr>
          <a:xfrm>
            <a:off x="1387376" y="4624388"/>
            <a:ext cx="101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Insurance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763741" y="4852988"/>
            <a:ext cx="209186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Claims reduction, risk profiling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9"/>
          <p:cNvSpPr/>
          <p:nvPr/>
        </p:nvSpPr>
        <p:spPr>
          <a:xfrm>
            <a:off x="4169569" y="4624388"/>
            <a:ext cx="11944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Automotive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9"/>
          <p:cNvSpPr/>
          <p:nvPr/>
        </p:nvSpPr>
        <p:spPr>
          <a:xfrm>
            <a:off x="3624635" y="4852988"/>
            <a:ext cx="208508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Safety systems, ADAS support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9"/>
          <p:cNvSpPr/>
          <p:nvPr/>
        </p:nvSpPr>
        <p:spPr>
          <a:xfrm>
            <a:off x="6719292" y="4624388"/>
            <a:ext cx="193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Fleet Management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9"/>
          <p:cNvSpPr/>
          <p:nvPr/>
        </p:nvSpPr>
        <p:spPr>
          <a:xfrm>
            <a:off x="6299969" y="4852988"/>
            <a:ext cx="244941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Driver coaching, accident reduction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9"/>
          <p:cNvSpPr/>
          <p:nvPr/>
        </p:nvSpPr>
        <p:spPr>
          <a:xfrm>
            <a:off x="9854357" y="4624388"/>
            <a:ext cx="12669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Smart Cities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9"/>
          <p:cNvSpPr/>
          <p:nvPr/>
        </p:nvSpPr>
        <p:spPr>
          <a:xfrm>
            <a:off x="8949928" y="4852988"/>
            <a:ext cx="286464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Traffic management, safety infrastructure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9"/>
          <p:cNvSpPr/>
          <p:nvPr/>
        </p:nvSpPr>
        <p:spPr>
          <a:xfrm>
            <a:off x="495300" y="5486554"/>
            <a:ext cx="1120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Together, let's make every road safer.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9"/>
          <p:cNvSpPr/>
          <p:nvPr/>
        </p:nvSpPr>
        <p:spPr>
          <a:xfrm>
            <a:off x="381000" y="6286500"/>
            <a:ext cx="15526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/>
          <p:nvPr/>
        </p:nvSpPr>
        <p:spPr>
          <a:xfrm>
            <a:off x="11258252" y="6286500"/>
            <a:ext cx="6632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</a:rPr>
              <a:t>20</a:t>
            </a: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of 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72" name="Google Shape;772;g39a2a5718ca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3" name="Google Shape;773;g39a2a5718ca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5" y="2643041"/>
            <a:ext cx="11201396" cy="1571905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g39a2a5718ca_0_3"/>
          <p:cNvSpPr/>
          <p:nvPr/>
        </p:nvSpPr>
        <p:spPr>
          <a:xfrm>
            <a:off x="495300" y="2735181"/>
            <a:ext cx="11201400" cy="14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800"/>
              <a:buFont typeface="Arial"/>
              <a:buNone/>
            </a:pPr>
            <a:r>
              <a:rPr b="1" lang="en-US" sz="3800">
                <a:solidFill>
                  <a:srgbClr val="0284C7"/>
                </a:solidFill>
              </a:rPr>
              <a:t>Thank you!</a:t>
            </a:r>
            <a:endParaRPr b="1" sz="3800">
              <a:solidFill>
                <a:srgbClr val="0284C7"/>
              </a:solidFill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800"/>
              <a:buFont typeface="Arial"/>
              <a:buNone/>
            </a:pPr>
            <a:r>
              <a:rPr b="1" lang="en-US" sz="3800">
                <a:solidFill>
                  <a:srgbClr val="0284C7"/>
                </a:solidFill>
              </a:rPr>
              <a:t>Any Questions?</a:t>
            </a:r>
            <a:endParaRPr b="1" sz="3800">
              <a:solidFill>
                <a:srgbClr val="0284C7"/>
              </a:solidFill>
            </a:endParaRPr>
          </a:p>
        </p:txBody>
      </p:sp>
      <p:sp>
        <p:nvSpPr>
          <p:cNvPr id="775" name="Google Shape;775;g39a2a5718ca_0_3"/>
          <p:cNvSpPr/>
          <p:nvPr/>
        </p:nvSpPr>
        <p:spPr>
          <a:xfrm>
            <a:off x="381000" y="6286500"/>
            <a:ext cx="1552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SafeDrive AI • DEPI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2025-11-27T18:11:57Z</dcterms:created>
  <dc:creator>PptxGenJS</dc:creator>
</cp:coreProperties>
</file>